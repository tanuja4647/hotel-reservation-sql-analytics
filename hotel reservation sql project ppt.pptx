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5"/>
  </p:notesMasterIdLst>
  <p:sldIdLst>
    <p:sldId id="256" r:id="rId2"/>
    <p:sldId id="257" r:id="rId3"/>
    <p:sldId id="260" r:id="rId4"/>
    <p:sldId id="280" r:id="rId5"/>
    <p:sldId id="261" r:id="rId6"/>
    <p:sldId id="282" r:id="rId7"/>
    <p:sldId id="264" r:id="rId8"/>
    <p:sldId id="265" r:id="rId9"/>
    <p:sldId id="266" r:id="rId10"/>
    <p:sldId id="267" r:id="rId11"/>
    <p:sldId id="268" r:id="rId12"/>
    <p:sldId id="277" r:id="rId13"/>
    <p:sldId id="270" r:id="rId14"/>
    <p:sldId id="276" r:id="rId15"/>
    <p:sldId id="278" r:id="rId16"/>
    <p:sldId id="283" r:id="rId17"/>
    <p:sldId id="284" r:id="rId18"/>
    <p:sldId id="285" r:id="rId19"/>
    <p:sldId id="286" r:id="rId20"/>
    <p:sldId id="272" r:id="rId21"/>
    <p:sldId id="273" r:id="rId22"/>
    <p:sldId id="288" r:id="rId23"/>
    <p:sldId id="275" r:id="rId24"/>
  </p:sldIdLst>
  <p:sldSz cx="12192000" cy="6858000"/>
  <p:notesSz cx="6858000" cy="9144000"/>
  <p:embeddedFontLst>
    <p:embeddedFont>
      <p:font typeface="Cambria" panose="02040503050406030204" pitchFamily="18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28E1D-D8F7-4EDA-91A2-A7E7A857F0ED}" v="175" dt="2026-08-28T03:57:20.6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60"/>
  </p:normalViewPr>
  <p:slideViewPr>
    <p:cSldViewPr snapToGrid="0">
      <p:cViewPr varScale="1">
        <p:scale>
          <a:sx n="40" d="100"/>
          <a:sy n="40" d="100"/>
        </p:scale>
        <p:origin x="5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ED331-3C63-1D84-ACB6-150B7E00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B5E8D-89E7-ABEE-4847-03AF33B21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5948-75FC-4750-E7C4-0F3C05E12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B1208-7AA1-2E49-BBCB-6140411DA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5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66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009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406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628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849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050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051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7605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28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339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9945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18930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06484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424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9694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90427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752891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00523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77166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38658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16213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5887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0405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24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4004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129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409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42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74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nuja464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43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83771" y="3429000"/>
            <a:ext cx="1095102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br>
              <a:rPr lang="en-IN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HOTEL RESERVATION OPERATIONS ANALYTICS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5E709-917F-7706-5CC7-46C06B9A6FE2}"/>
              </a:ext>
            </a:extLst>
          </p:cNvPr>
          <p:cNvSpPr txBox="1"/>
          <p:nvPr/>
        </p:nvSpPr>
        <p:spPr>
          <a:xfrm>
            <a:off x="5148942" y="4459235"/>
            <a:ext cx="41622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BEDCE6"/>
                </a:solidFill>
              </a:defRPr>
            </a:pPr>
            <a:r>
              <a:rPr lang="en-IN" sz="1200" dirty="0">
                <a:solidFill>
                  <a:srgbClr val="FF0000"/>
                </a:solidFill>
              </a:rPr>
              <a:t>Findings &amp; Business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AD534-5162-752B-0430-6CB5EDA81F4A}"/>
              </a:ext>
            </a:extLst>
          </p:cNvPr>
          <p:cNvSpPr txBox="1"/>
          <p:nvPr/>
        </p:nvSpPr>
        <p:spPr>
          <a:xfrm>
            <a:off x="2996333" y="5816933"/>
            <a:ext cx="6174658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Presented by: </a:t>
            </a:r>
          </a:p>
          <a:p>
            <a:pPr algn="ctr"/>
            <a:r>
              <a:rPr lang="en-US" sz="2000" dirty="0">
                <a:solidFill>
                  <a:srgbClr val="1A1A1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NAMMI NAGA TANUJA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44129" y="1209368"/>
            <a:ext cx="11420215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700" dirty="0"/>
              <a:t>• </a:t>
            </a:r>
            <a:r>
              <a:rPr lang="en-US" sz="1700" dirty="0"/>
              <a:t>B-Tech</a:t>
            </a:r>
            <a:r>
              <a:rPr sz="1700" dirty="0"/>
              <a:t> in </a:t>
            </a:r>
            <a:r>
              <a:rPr lang="en-US" sz="1700" dirty="0"/>
              <a:t>Computer Science and Engineering(Cyber Security</a:t>
            </a:r>
            <a:r>
              <a:rPr lang="en-US" sz="1700"/>
              <a:t>) </a:t>
            </a:r>
            <a:r>
              <a:rPr lang="en-US" sz="1700" dirty="0"/>
              <a:t>-</a:t>
            </a:r>
            <a:r>
              <a:rPr sz="1700"/>
              <a:t> </a:t>
            </a:r>
            <a:r>
              <a:rPr lang="en-US" sz="1700" dirty="0"/>
              <a:t>Raghu  Institute of Technology</a:t>
            </a:r>
            <a:endParaRPr sz="1700" dirty="0"/>
          </a:p>
          <a:p>
            <a:endParaRPr sz="1700" dirty="0"/>
          </a:p>
          <a:p>
            <a:r>
              <a:rPr sz="1700" dirty="0"/>
              <a:t>• Why Data Science: Interested in using data and automation to reduce repetitive work and improve decision-making.</a:t>
            </a:r>
          </a:p>
          <a:p>
            <a:endParaRPr sz="1700" dirty="0"/>
          </a:p>
          <a:p>
            <a:r>
              <a:rPr sz="1700" dirty="0"/>
              <a:t>• Project Skills: SQL joins, aggregation, GROUP BY/HAVING, CASE statements, CTEs and analytical queries.</a:t>
            </a:r>
          </a:p>
          <a:p>
            <a:endParaRPr sz="1700" dirty="0"/>
          </a:p>
          <a:p>
            <a:r>
              <a:rPr sz="1700" dirty="0"/>
              <a:t>• Current Focus: Advanced SQL, database design and data analysis.</a:t>
            </a:r>
            <a:endParaRPr lang="en-US" sz="1700" dirty="0"/>
          </a:p>
          <a:p>
            <a:endParaRPr lang="en-IN" sz="1700" dirty="0"/>
          </a:p>
          <a:p>
            <a:endParaRPr lang="en-IN" sz="1700" dirty="0"/>
          </a:p>
          <a:p>
            <a:endParaRPr lang="en-IN" sz="1700" dirty="0"/>
          </a:p>
          <a:p>
            <a:endParaRPr lang="en-IN" sz="1700" dirty="0"/>
          </a:p>
          <a:p>
            <a:endParaRPr lang="en-IN" sz="1700" dirty="0"/>
          </a:p>
          <a:p>
            <a:endParaRPr lang="en-IN" sz="1700" dirty="0"/>
          </a:p>
          <a:p>
            <a:pPr marL="28575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LinkedIn</a:t>
            </a:r>
            <a:r>
              <a:rPr lang="en-US" dirty="0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: https://www.linkedin.com/in/nammi-naga-tanuja-7b4016293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GitHub: </a:t>
            </a:r>
            <a:r>
              <a:rPr lang="en-US" dirty="0">
                <a:solidFill>
                  <a:srgbClr val="00B0F0"/>
                </a:solidFill>
                <a:latin typeface="Calibri"/>
                <a:ea typeface="Calibri"/>
                <a:cs typeface="Calibri"/>
                <a:hlinkClick r:id="rId3" tooltip="https://github.com/Tanuja464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https://github.com/Tanuja4647</a:t>
            </a:r>
            <a:endParaRPr lang="en-IN" sz="1700" dirty="0">
              <a:solidFill>
                <a:srgbClr val="00B0F0"/>
              </a:solidFill>
            </a:endParaRPr>
          </a:p>
          <a:p>
            <a:endParaRPr lang="en-IN" sz="1700" dirty="0"/>
          </a:p>
          <a:p>
            <a:endParaRPr lang="en-IN" sz="1700" dirty="0"/>
          </a:p>
          <a:p>
            <a:endParaRPr sz="17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102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3600" b="1" dirty="0">
                <a:solidFill>
                  <a:srgbClr val="D1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3600"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mbria"/>
              <a:buNone/>
            </a:pPr>
            <a:endParaRPr sz="4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Best Data Science &amp; Big Data EdTech Company Hyderabad, India">
            <a:extLst>
              <a:ext uri="{FF2B5EF4-FFF2-40B4-BE49-F238E27FC236}">
                <a16:creationId xmlns:a16="http://schemas.microsoft.com/office/drawing/2014/main" id="{230F87E6-3BFD-0655-C063-F6D58432D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8640" y="6437376"/>
            <a:ext cx="3779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spc="133" dirty="0">
                <a:solidFill>
                  <a:srgbClr val="D1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INNOMATICS </a:t>
            </a:r>
            <a:r>
              <a:rPr lang="en-US" sz="1200" b="1" spc="133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7680" y="6437376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D1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666495"/>
            <a:ext cx="512064" cy="512064"/>
          </a:xfrm>
          <a:prstGeom prst="ellipse">
            <a:avLst/>
          </a:prstGeom>
          <a:solidFill>
            <a:srgbClr val="D1272E"/>
          </a:solidFill>
          <a:ln/>
        </p:spPr>
        <p:txBody>
          <a:bodyPr/>
          <a:lstStyle/>
          <a:p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33378" y="1162403"/>
            <a:ext cx="936908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Project Objective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2523744"/>
            <a:ext cx="512064" cy="512064"/>
          </a:xfrm>
          <a:prstGeom prst="ellipse">
            <a:avLst/>
          </a:prstGeom>
          <a:solidFill>
            <a:srgbClr val="D1272E"/>
          </a:solidFill>
          <a:ln/>
        </p:spPr>
        <p:txBody>
          <a:bodyPr/>
          <a:lstStyle/>
          <a:p>
            <a:endParaRPr lang="en-US" sz="1867"/>
          </a:p>
        </p:txBody>
      </p:sp>
      <p:sp>
        <p:nvSpPr>
          <p:cNvPr id="9" name="Text 7"/>
          <p:cNvSpPr/>
          <p:nvPr/>
        </p:nvSpPr>
        <p:spPr>
          <a:xfrm>
            <a:off x="731520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52374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 Model &amp; Analysis Questions</a:t>
            </a:r>
          </a:p>
        </p:txBody>
      </p:sp>
      <p:sp>
        <p:nvSpPr>
          <p:cNvPr id="11" name="Shape 9"/>
          <p:cNvSpPr/>
          <p:nvPr/>
        </p:nvSpPr>
        <p:spPr>
          <a:xfrm>
            <a:off x="731520" y="3401568"/>
            <a:ext cx="512064" cy="512064"/>
          </a:xfrm>
          <a:prstGeom prst="ellipse">
            <a:avLst/>
          </a:prstGeom>
          <a:solidFill>
            <a:srgbClr val="D1272E"/>
          </a:solidFill>
          <a:ln/>
        </p:spPr>
        <p:txBody>
          <a:bodyPr/>
          <a:lstStyle/>
          <a:p>
            <a:endParaRPr lang="en-US" sz="1867"/>
          </a:p>
        </p:txBody>
      </p:sp>
      <p:sp>
        <p:nvSpPr>
          <p:cNvPr id="12" name="Text 10"/>
          <p:cNvSpPr/>
          <p:nvPr/>
        </p:nvSpPr>
        <p:spPr>
          <a:xfrm>
            <a:off x="731520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40156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Key Findings &amp; Business Insights</a:t>
            </a:r>
          </a:p>
        </p:txBody>
      </p:sp>
      <p:sp>
        <p:nvSpPr>
          <p:cNvPr id="14" name="Shape 12"/>
          <p:cNvSpPr/>
          <p:nvPr/>
        </p:nvSpPr>
        <p:spPr>
          <a:xfrm>
            <a:off x="731520" y="4279392"/>
            <a:ext cx="512064" cy="512064"/>
          </a:xfrm>
          <a:prstGeom prst="ellipse">
            <a:avLst/>
          </a:prstGeom>
          <a:solidFill>
            <a:srgbClr val="D1272E"/>
          </a:solidFill>
          <a:ln/>
        </p:spPr>
        <p:txBody>
          <a:bodyPr/>
          <a:lstStyle/>
          <a:p>
            <a:endParaRPr lang="en-US" sz="1867"/>
          </a:p>
        </p:txBody>
      </p:sp>
      <p:sp>
        <p:nvSpPr>
          <p:cNvPr id="15" name="Text 13"/>
          <p:cNvSpPr/>
          <p:nvPr/>
        </p:nvSpPr>
        <p:spPr>
          <a:xfrm>
            <a:off x="731520" y="4279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27939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Q&amp;A</a:t>
            </a:r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512064" cy="512064"/>
          </a:xfrm>
          <a:prstGeom prst="ellipse">
            <a:avLst/>
          </a:prstGeom>
          <a:solidFill>
            <a:srgbClr val="D1272E"/>
          </a:solidFill>
          <a:ln/>
        </p:spPr>
        <p:txBody>
          <a:bodyPr/>
          <a:lstStyle/>
          <a:p>
            <a:endParaRPr lang="en-US" sz="1867"/>
          </a:p>
        </p:txBody>
      </p:sp>
      <p:sp>
        <p:nvSpPr>
          <p:cNvPr id="18" name="Text 16"/>
          <p:cNvSpPr/>
          <p:nvPr/>
        </p:nvSpPr>
        <p:spPr>
          <a:xfrm>
            <a:off x="731520" y="5157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15721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Challenges &amp; Learnings</a:t>
            </a:r>
          </a:p>
        </p:txBody>
      </p:sp>
      <p:pic>
        <p:nvPicPr>
          <p:cNvPr id="21" name="Picture 20" descr="Best Data Science &amp; Big Data EdTech Company Hyderabad, India">
            <a:extLst>
              <a:ext uri="{FF2B5EF4-FFF2-40B4-BE49-F238E27FC236}">
                <a16:creationId xmlns:a16="http://schemas.microsoft.com/office/drawing/2014/main" id="{F0BB9267-EB5F-C428-4DB0-30304585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BB6B2-7DFB-EE28-49C4-FA82A3F9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C0A5B-9B79-0FAB-F67D-6BE702B2CAB8}"/>
              </a:ext>
            </a:extLst>
          </p:cNvPr>
          <p:cNvSpPr/>
          <p:nvPr/>
        </p:nvSpPr>
        <p:spPr>
          <a:xfrm>
            <a:off x="8168640" y="6437376"/>
            <a:ext cx="3779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spc="133" dirty="0">
                <a:solidFill>
                  <a:srgbClr val="D1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INNOMATICS </a:t>
            </a:r>
            <a:r>
              <a:rPr lang="en-US" sz="1200" b="1" spc="133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0BD698-2324-E873-1B0B-2F6EF3923FCC}"/>
              </a:ext>
            </a:extLst>
          </p:cNvPr>
          <p:cNvSpPr/>
          <p:nvPr/>
        </p:nvSpPr>
        <p:spPr>
          <a:xfrm>
            <a:off x="487680" y="6437376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7B970A-91FC-B924-A63A-34BDA4B59946}"/>
              </a:ext>
            </a:extLst>
          </p:cNvPr>
          <p:cNvSpPr/>
          <p:nvPr/>
        </p:nvSpPr>
        <p:spPr>
          <a:xfrm>
            <a:off x="849086" y="877824"/>
            <a:ext cx="1067583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D1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Project</a:t>
            </a:r>
            <a:endParaRPr lang="en-US" sz="4000" dirty="0"/>
          </a:p>
          <a:p>
            <a:endParaRPr lang="en-US" sz="4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20BB8B-9BEC-2B59-5FEA-117F95EA7E04}"/>
              </a:ext>
            </a:extLst>
          </p:cNvPr>
          <p:cNvSpPr/>
          <p:nvPr/>
        </p:nvSpPr>
        <p:spPr>
          <a:xfrm>
            <a:off x="731520" y="1645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17324A-7D36-31ED-7395-121453C924FC}"/>
              </a:ext>
            </a:extLst>
          </p:cNvPr>
          <p:cNvSpPr/>
          <p:nvPr/>
        </p:nvSpPr>
        <p:spPr>
          <a:xfrm>
            <a:off x="1533378" y="1162403"/>
            <a:ext cx="936908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082F45-59B4-506D-4346-A1290470B1D0}"/>
              </a:ext>
            </a:extLst>
          </p:cNvPr>
          <p:cNvSpPr/>
          <p:nvPr/>
        </p:nvSpPr>
        <p:spPr>
          <a:xfrm>
            <a:off x="731520" y="2523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E6FDB23-1A5B-D340-747C-95AA9E6B2275}"/>
              </a:ext>
            </a:extLst>
          </p:cNvPr>
          <p:cNvSpPr/>
          <p:nvPr/>
        </p:nvSpPr>
        <p:spPr>
          <a:xfrm>
            <a:off x="731520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57200EA-F547-6120-7073-E3AE76E2A9C6}"/>
              </a:ext>
            </a:extLst>
          </p:cNvPr>
          <p:cNvSpPr/>
          <p:nvPr/>
        </p:nvSpPr>
        <p:spPr>
          <a:xfrm>
            <a:off x="1077686" y="1883229"/>
            <a:ext cx="9895114" cy="2030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r>
              <a:rPr lang="en-US" dirty="0"/>
              <a:t>Core Goal: Transform hotel reservation data into actionable operational insights using SQL.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r>
              <a:rPr lang="en-US" dirty="0"/>
              <a:t>Operational Analysis: Understand hotels, guests, bookings, rooms and stay outcomes.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r>
              <a:rPr lang="en-US" dirty="0"/>
              <a:t>Problem Analysis: Identify cancellations, no-shows, service-request patterns and operational hotspots.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r>
              <a:rPr lang="en-US" dirty="0"/>
              <a:t>Revenue Analysis: Measure booking value, lost revenue and revenue-loss trends.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373737"/>
                </a:solidFill>
                <a:latin typeface="Calibri"/>
              </a:defRPr>
            </a:pPr>
            <a:r>
              <a:rPr lang="en-US" dirty="0"/>
              <a:t>Technical Execution: Apply joins, GROUP BY/HAVING, CASE statements, conditional aggregation and date analysis.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027468-7E18-DEBF-DC8F-6A4844347EFB}"/>
              </a:ext>
            </a:extLst>
          </p:cNvPr>
          <p:cNvSpPr/>
          <p:nvPr/>
        </p:nvSpPr>
        <p:spPr>
          <a:xfrm>
            <a:off x="391885" y="1188720"/>
            <a:ext cx="10510575" cy="437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3A8EDCF-CA6C-B84E-A729-E27620753178}"/>
              </a:ext>
            </a:extLst>
          </p:cNvPr>
          <p:cNvSpPr/>
          <p:nvPr/>
        </p:nvSpPr>
        <p:spPr>
          <a:xfrm>
            <a:off x="731520" y="5157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373E2F1-79C8-C9C3-35BF-8FE2494A44F9}"/>
              </a:ext>
            </a:extLst>
          </p:cNvPr>
          <p:cNvSpPr/>
          <p:nvPr/>
        </p:nvSpPr>
        <p:spPr>
          <a:xfrm>
            <a:off x="1463040" y="515721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pic>
        <p:nvPicPr>
          <p:cNvPr id="21" name="Picture 20" descr="Best Data Science &amp; Big Data EdTech Company Hyderabad, India">
            <a:extLst>
              <a:ext uri="{FF2B5EF4-FFF2-40B4-BE49-F238E27FC236}">
                <a16:creationId xmlns:a16="http://schemas.microsoft.com/office/drawing/2014/main" id="{E1CA4167-4902-3264-4DA5-BF2C1EBE2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9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BD6CB3-CA41-ACAE-C77F-DCB4AACDA6BA}"/>
              </a:ext>
            </a:extLst>
          </p:cNvPr>
          <p:cNvSpPr txBox="1"/>
          <p:nvPr/>
        </p:nvSpPr>
        <p:spPr>
          <a:xfrm>
            <a:off x="5433981" y="147262"/>
            <a:ext cx="172064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ER Diagram</a:t>
            </a:r>
          </a:p>
        </p:txBody>
      </p:sp>
      <p:pic>
        <p:nvPicPr>
          <p:cNvPr id="2" name="image3.png">
            <a:extLst>
              <a:ext uri="{FF2B5EF4-FFF2-40B4-BE49-F238E27FC236}">
                <a16:creationId xmlns:a16="http://schemas.microsoft.com/office/drawing/2014/main" id="{A248F9BE-735F-E625-EFD3-4BACB65748A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014250" y="1093424"/>
            <a:ext cx="9112785" cy="5340427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90BE2F-ABCF-D0C4-A00B-36536C4DC4B7}"/>
              </a:ext>
            </a:extLst>
          </p:cNvPr>
          <p:cNvSpPr txBox="1"/>
          <p:nvPr/>
        </p:nvSpPr>
        <p:spPr>
          <a:xfrm>
            <a:off x="4219460" y="678426"/>
            <a:ext cx="434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Hotel Reservation Data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19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C58C-B7AB-2599-F7E1-D7395375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4" y="9832"/>
            <a:ext cx="6538452" cy="294967"/>
          </a:xfrm>
        </p:spPr>
        <p:txBody>
          <a:bodyPr>
            <a:normAutofit fontScale="90000"/>
          </a:bodyPr>
          <a:lstStyle/>
          <a:p>
            <a:r>
              <a:rPr lang="en-IN" dirty="0"/>
              <a:t>Key Analysis Questions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0103" y="478234"/>
          <a:ext cx="10589342" cy="5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3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r>
                        <a:rPr sz="1100" b="1"/>
                        <a:t>Analysis Questions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SQL Query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Outcome / Insight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What is the total number of guests?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onsolas"/>
                        </a:defRPr>
                      </a:pPr>
                      <a:r>
                        <a:t>SELECT COUNT(*) AS total_guests FROM guests;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Returns the total size of the guest database — the full customer base collected.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What is the total number of bookings?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onsolas"/>
                        </a:defRPr>
                      </a:pPr>
                      <a:r>
                        <a:t>SELECT COUNT(*) AS total_bookings FROM bookings;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Shows overall booking volume, a key measure of business activity.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What is the total number of stays?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onsolas"/>
                        </a:defRPr>
                      </a:pPr>
                      <a:r>
                        <a:rPr dirty="0"/>
                        <a:t>SELECT COUNT(</a:t>
                      </a:r>
                      <a:r>
                        <a:rPr dirty="0" err="1"/>
                        <a:t>stay_id</a:t>
                      </a:r>
                      <a:r>
                        <a:rPr dirty="0"/>
                        <a:t>) AS </a:t>
                      </a:r>
                      <a:r>
                        <a:rPr dirty="0" err="1"/>
                        <a:t>total_stays</a:t>
                      </a:r>
                      <a:r>
                        <a:rPr dirty="0"/>
                        <a:t> FROM stays;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Indicates how many bookings actually converted into completed stays.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rPr dirty="0"/>
                        <a:t>What are the different room types available?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onsolas"/>
                        </a:defRPr>
                      </a:pPr>
                      <a:r>
                        <a:t>SELECT DISTINCT room_type FROM rooms;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Lists the room type categories offered across the hotel portfolio.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How many staff members are currently active?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onsolas"/>
                        </a:defRPr>
                      </a:pPr>
                      <a:r>
                        <a:t>SELECT COUNT(*) AS active_staff FROM staff WHERE is_active = TRUE;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Reflects current staffing levels available to support operations.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What are the different booking channels?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onsolas"/>
                        </a:defRPr>
                      </a:pPr>
                      <a:r>
                        <a:t>SELECT DISTINCT booking_channel FROM bookings;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Identifies all channels guests use to make a reservation.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What is the total booking amount across all bookings?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onsolas"/>
                        </a:defRPr>
                      </a:pPr>
                      <a:r>
                        <a:t>SELECT SUM(total_amount) AS total_booking_amount FROM bookings;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Gives the total revenue generated from all bookings combined.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rPr dirty="0"/>
                        <a:t>What is the average nights booked per booking?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2D2D"/>
                          </a:solidFill>
                          <a:latin typeface="Consolas"/>
                        </a:defRPr>
                      </a:pPr>
                      <a:r>
                        <a:t>SELECT AVG(nights_booked) AS avg_nights_per_booking FROM bookings;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rPr dirty="0"/>
                        <a:t>Shows the typical length of stay guests book on average.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Picture 7" descr="Best Data Science &amp; Big Data EdTech Company Hyderabad, India">
            <a:extLst>
              <a:ext uri="{FF2B5EF4-FFF2-40B4-BE49-F238E27FC236}">
                <a16:creationId xmlns:a16="http://schemas.microsoft.com/office/drawing/2014/main" id="{70B5C4AE-39A8-FE63-2975-57D054382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8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1E54ED-D38B-DD12-ED78-497E174F60D5}"/>
              </a:ext>
            </a:extLst>
          </p:cNvPr>
          <p:cNvSpPr txBox="1"/>
          <p:nvPr/>
        </p:nvSpPr>
        <p:spPr>
          <a:xfrm>
            <a:off x="560439" y="245806"/>
            <a:ext cx="1127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dirty="0"/>
              <a:t>1. Which hotels generate the most bookings?</a:t>
            </a:r>
          </a:p>
        </p:txBody>
      </p:sp>
      <p:pic>
        <p:nvPicPr>
          <p:cNvPr id="11" name="Picture 10" descr="Best Data Science &amp; Big Data EdTech Company Hyderabad, India">
            <a:extLst>
              <a:ext uri="{FF2B5EF4-FFF2-40B4-BE49-F238E27FC236}">
                <a16:creationId xmlns:a16="http://schemas.microsoft.com/office/drawing/2014/main" id="{6869225D-A374-B8F4-C67C-CF23C0FC7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sp>
        <p:nvSpPr>
          <p:cNvPr id="12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4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StayPoint Mumbai Grand leads with 224 bookings (₹37.7L revenue).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StayPoint Mumbai Residency follows closely with 221 bookings.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Mumbai-based properties clearly dominate booking volume.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097280"/>
            <a:ext cx="55321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91098-8720-D6A2-5599-C0E33B2E7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15" y="3788229"/>
            <a:ext cx="5643485" cy="2594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94D94D-8606-D7A1-39D0-596FF93E8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16" y="1681381"/>
            <a:ext cx="547582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02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0BA42-803D-0A37-D469-8317BD241727}"/>
              </a:ext>
            </a:extLst>
          </p:cNvPr>
          <p:cNvSpPr txBox="1"/>
          <p:nvPr/>
        </p:nvSpPr>
        <p:spPr>
          <a:xfrm>
            <a:off x="747252" y="334297"/>
            <a:ext cx="11316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dirty="0"/>
              <a:t>2. Which booking channels bring the most business?</a:t>
            </a:r>
          </a:p>
        </p:txBody>
      </p:sp>
      <p:sp>
        <p:nvSpPr>
          <p:cNvPr id="9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Website (984 bookings) and Mobile App (875) are the top two channels.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Together, digital channels generate over ₹3.05Cr in revenue.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Phone bookings are the smallest channel, at just 222 bookings.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097280"/>
            <a:ext cx="55321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  <p:pic>
        <p:nvPicPr>
          <p:cNvPr id="4" name="Picture 3" descr="Best Data Science &amp; Big Data EdTech Company Hyderabad, India">
            <a:extLst>
              <a:ext uri="{FF2B5EF4-FFF2-40B4-BE49-F238E27FC236}">
                <a16:creationId xmlns:a16="http://schemas.microsoft.com/office/drawing/2014/main" id="{69B2219D-C754-2E12-41CC-4EC44D351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BB3BBC-DB7C-3552-D30D-4D3815BF9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15" y="4389506"/>
            <a:ext cx="5532120" cy="20386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E71550-0183-B48C-DF4A-EAE45BC59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52" y="1874086"/>
            <a:ext cx="4698052" cy="217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7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7D7D0-8C41-A350-A555-8F33CDC77ED2}"/>
              </a:ext>
            </a:extLst>
          </p:cNvPr>
          <p:cNvSpPr txBox="1"/>
          <p:nvPr/>
        </p:nvSpPr>
        <p:spPr>
          <a:xfrm>
            <a:off x="363794" y="334297"/>
            <a:ext cx="105401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dirty="0"/>
              <a:t>3. Which room types are requested the most?</a:t>
            </a:r>
          </a:p>
        </p:txBody>
      </p:sp>
      <p:sp>
        <p:nvSpPr>
          <p:cNvPr id="9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Standard rooms are requested most often (1,259 bookings).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Suites are requested least (444) but carry the highest average value (₹27,477).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Demand and average booking value move in opposite directions by room type.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097280"/>
            <a:ext cx="55321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  <p:pic>
        <p:nvPicPr>
          <p:cNvPr id="4" name="Picture 3" descr="Best Data Science &amp; Big Data EdTech Company Hyderabad, India">
            <a:extLst>
              <a:ext uri="{FF2B5EF4-FFF2-40B4-BE49-F238E27FC236}">
                <a16:creationId xmlns:a16="http://schemas.microsoft.com/office/drawing/2014/main" id="{056611E7-F49C-40AD-601C-A26C1C378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0E74F3-0DDF-A15B-FB96-B257E9AE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49486"/>
            <a:ext cx="5506654" cy="2761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455F3-C72B-4515-D10B-54314DFA9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52" y="1782283"/>
            <a:ext cx="4991797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40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DD6134-2003-C5DD-4C47-59DD44342CDC}"/>
              </a:ext>
            </a:extLst>
          </p:cNvPr>
          <p:cNvSpPr txBox="1"/>
          <p:nvPr/>
        </p:nvSpPr>
        <p:spPr>
          <a:xfrm>
            <a:off x="344129" y="304801"/>
            <a:ext cx="10628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dirty="0"/>
              <a:t>4. Which guests have the highest total spend?</a:t>
            </a:r>
          </a:p>
        </p:txBody>
      </p:sp>
      <p:sp>
        <p:nvSpPr>
          <p:cNvPr id="9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Gwendolyn Klein is the top spender: 64 bookings worth ₹11.96L.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The top 2 guests alone account for over ₹20L in combined spend.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High-frequency guests are a clear target for loyalty programs.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097280"/>
            <a:ext cx="55321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  <p:pic>
        <p:nvPicPr>
          <p:cNvPr id="4" name="Picture 3" descr="Best Data Science &amp; Big Data EdTech Company Hyderabad, India">
            <a:extLst>
              <a:ext uri="{FF2B5EF4-FFF2-40B4-BE49-F238E27FC236}">
                <a16:creationId xmlns:a16="http://schemas.microsoft.com/office/drawing/2014/main" id="{01F2DE33-2F61-7145-5C59-2F4420AD2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1F9AE-5DB8-30D9-CD02-2C0477E8B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20" y="4354710"/>
            <a:ext cx="5532120" cy="19481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AA1ED9-1040-3453-DC10-35FD6BC98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053" y="1699684"/>
            <a:ext cx="4858428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0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9E204-24BE-84FE-2EC6-C676C95EF6D6}"/>
              </a:ext>
            </a:extLst>
          </p:cNvPr>
          <p:cNvSpPr txBox="1"/>
          <p:nvPr/>
        </p:nvSpPr>
        <p:spPr>
          <a:xfrm>
            <a:off x="314631" y="255639"/>
            <a:ext cx="11080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dirty="0"/>
              <a:t>5. How do Individual and Corporate guests compare?</a:t>
            </a:r>
          </a:p>
        </p:txBody>
      </p:sp>
      <p:sp>
        <p:nvSpPr>
          <p:cNvPr id="9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Individual guests make far more bookings (1,903) than Corporate (897).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Average booking value is close: ₹16,497 (Individual) vs ₹16,086 (Corporate).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Individual guests are the primary volume driver for the business.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097280"/>
            <a:ext cx="55321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C6B0A-1F88-D7BD-815D-93BE70B79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59" y="4285561"/>
            <a:ext cx="5467561" cy="2517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33FA5A-F68C-9108-6F3A-0AB1AB320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68" y="1690905"/>
            <a:ext cx="4820323" cy="2231099"/>
          </a:xfrm>
          <a:prstGeom prst="rect">
            <a:avLst/>
          </a:prstGeom>
        </p:spPr>
      </p:pic>
      <p:pic>
        <p:nvPicPr>
          <p:cNvPr id="5" name="Picture 4" descr="Best Data Science &amp; Big Data EdTech Company Hyderabad, India">
            <a:extLst>
              <a:ext uri="{FF2B5EF4-FFF2-40B4-BE49-F238E27FC236}">
                <a16:creationId xmlns:a16="http://schemas.microsoft.com/office/drawing/2014/main" id="{0EC36D9F-DDC6-3874-EBB3-6339B3C0C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63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1E54ED-D38B-DD12-ED78-497E174F60D5}"/>
              </a:ext>
            </a:extLst>
          </p:cNvPr>
          <p:cNvSpPr txBox="1"/>
          <p:nvPr/>
        </p:nvSpPr>
        <p:spPr>
          <a:xfrm>
            <a:off x="560439" y="245806"/>
            <a:ext cx="112776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lang="en-US" dirty="0"/>
              <a:t>6</a:t>
            </a:r>
            <a:r>
              <a:rPr dirty="0"/>
              <a:t>. Which bookings resulted in cancellations or no-shows?</a:t>
            </a:r>
          </a:p>
        </p:txBody>
      </p:sp>
      <p:pic>
        <p:nvPicPr>
          <p:cNvPr id="11" name="Picture 10" descr="Best Data Science &amp; Big Data EdTech Company Hyderabad, India">
            <a:extLst>
              <a:ext uri="{FF2B5EF4-FFF2-40B4-BE49-F238E27FC236}">
                <a16:creationId xmlns:a16="http://schemas.microsoft.com/office/drawing/2014/main" id="{6869225D-A374-B8F4-C67C-CF23C0FC7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sp>
        <p:nvSpPr>
          <p:cNvPr id="12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rPr dirty="0"/>
              <a:t>KEY INSIGHT</a:t>
            </a:r>
          </a:p>
        </p:txBody>
      </p:sp>
      <p:sp>
        <p:nvSpPr>
          <p:cNvPr id="14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rPr dirty="0"/>
              <a:t>• 1,022 bookings (31.9% of all stays) ended in a cancellation or no-show.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rPr dirty="0"/>
              <a:t>• The costliest failed booking is worth ₹1,22,703 (No-show, Mumbai Plaza).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rPr dirty="0"/>
              <a:t>• Mobile App and Website bookings dominate the highest-value failures.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097280"/>
            <a:ext cx="55321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94BC50-266C-4F1F-8500-D67960CA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54" y="4205378"/>
            <a:ext cx="11612485" cy="1839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E684D7-7933-DB75-1318-F6EEFF4DC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18997"/>
            <a:ext cx="5532120" cy="267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54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9118F-CDD2-B6EF-62D2-D8C1D36B2C04}"/>
              </a:ext>
            </a:extLst>
          </p:cNvPr>
          <p:cNvSpPr txBox="1"/>
          <p:nvPr/>
        </p:nvSpPr>
        <p:spPr>
          <a:xfrm>
            <a:off x="117987" y="147484"/>
            <a:ext cx="9969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dirty="0"/>
              <a:t>7. Which room types are associated with more problem stays?</a:t>
            </a:r>
          </a:p>
        </p:txBody>
      </p:sp>
      <p:sp>
        <p:nvSpPr>
          <p:cNvPr id="9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Deluxe rooms have the highest problem rate (33.2%), Standard close behind (32.0%).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Suites have the lowest problem rate (29.4%) despite the most service requests/stay.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The spread is narrow (29.4%–33.2%) — room type is a secondary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097280"/>
            <a:ext cx="55321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  <p:pic>
        <p:nvPicPr>
          <p:cNvPr id="4" name="Picture 3" descr="Best Data Science &amp; Big Data EdTech Company Hyderabad, India">
            <a:extLst>
              <a:ext uri="{FF2B5EF4-FFF2-40B4-BE49-F238E27FC236}">
                <a16:creationId xmlns:a16="http://schemas.microsoft.com/office/drawing/2014/main" id="{91BE8C43-3285-4497-897F-E9D2D2116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909" y="5944832"/>
            <a:ext cx="4280171" cy="76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04C39F-103E-C436-F138-C1F9A574A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1" y="4754567"/>
            <a:ext cx="5745482" cy="142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C91519-866F-93CA-A622-1BA393F85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85" y="1725874"/>
            <a:ext cx="562631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67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9E204-24BE-84FE-2EC6-C676C95EF6D6}"/>
              </a:ext>
            </a:extLst>
          </p:cNvPr>
          <p:cNvSpPr txBox="1"/>
          <p:nvPr/>
        </p:nvSpPr>
        <p:spPr>
          <a:xfrm>
            <a:off x="314631" y="255639"/>
            <a:ext cx="11080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lang="en-US" dirty="0"/>
              <a:t>8</a:t>
            </a:r>
            <a:r>
              <a:rPr dirty="0"/>
              <a:t>. Does guest type affect stay completion and problem rates?</a:t>
            </a:r>
          </a:p>
        </p:txBody>
      </p:sp>
      <p:sp>
        <p:nvSpPr>
          <p:cNvPr id="9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Individual guests show a slightly higher problem rate (32.3%) than Corporate (31.2%).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Individual guests also carry a higher average booking value (₹16,569 vs ₹15,849).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The gap is narrow — guest type alone doesn't strongly drive outcomes.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097280"/>
            <a:ext cx="5532120" cy="4754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  <p:pic>
        <p:nvPicPr>
          <p:cNvPr id="4" name="Picture 3" descr="Best Data Science &amp; Big Data EdTech Company Hyderabad, India">
            <a:extLst>
              <a:ext uri="{FF2B5EF4-FFF2-40B4-BE49-F238E27FC236}">
                <a16:creationId xmlns:a16="http://schemas.microsoft.com/office/drawing/2014/main" id="{6FCE48A0-B7A4-1EA2-22E3-EA68B4476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284" y="6001189"/>
            <a:ext cx="4280171" cy="76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021499-1EC9-BBA2-D993-45BCD25D5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4836405"/>
            <a:ext cx="5654042" cy="1290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A1B4A2-E1FD-3BBD-F3F4-5561F243C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1" y="1572768"/>
            <a:ext cx="5532119" cy="310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09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7D7D0-8C41-A350-A555-8F33CDC77ED2}"/>
              </a:ext>
            </a:extLst>
          </p:cNvPr>
          <p:cNvSpPr txBox="1"/>
          <p:nvPr/>
        </p:nvSpPr>
        <p:spPr>
          <a:xfrm>
            <a:off x="363794" y="334297"/>
            <a:ext cx="1054017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lang="en-US" dirty="0"/>
              <a:t>9</a:t>
            </a:r>
            <a:r>
              <a:rPr dirty="0"/>
              <a:t>. Which hotels have the most booking problems?</a:t>
            </a:r>
          </a:p>
        </p:txBody>
      </p:sp>
      <p:sp>
        <p:nvSpPr>
          <p:cNvPr id="9" name="Key Insight Card"/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/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/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StayPoint</a:t>
            </a:r>
            <a:r>
              <a:rPr dirty="0"/>
              <a:t> Mumbai Suites has the most problems overall (53 cases, ₹10.5L lost).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StayPoint</a:t>
            </a:r>
            <a:r>
              <a:rPr dirty="0"/>
              <a:t> Kochi Palace has the highest problem rate at 39.2%.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StayPoint</a:t>
            </a:r>
            <a:r>
              <a:rPr dirty="0"/>
              <a:t> Chandigarh Residency is the strongest performer at 19.8%.</a:t>
            </a:r>
          </a:p>
        </p:txBody>
      </p:sp>
      <p:pic>
        <p:nvPicPr>
          <p:cNvPr id="6" name="Picture 5" descr="Best Data Science &amp; Big Data EdTech Company Hyderabad, India">
            <a:extLst>
              <a:ext uri="{FF2B5EF4-FFF2-40B4-BE49-F238E27FC236}">
                <a16:creationId xmlns:a16="http://schemas.microsoft.com/office/drawing/2014/main" id="{AF855969-C12B-D5D6-11B9-A89FE022A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E0D3C6-1FA9-355B-C6E3-AFAD2D7B6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7" y="4227559"/>
            <a:ext cx="5736534" cy="2200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8E6BD3-896A-433B-DC64-92A9A9F19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45" y="1393371"/>
            <a:ext cx="5439614" cy="25286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78ECF8-B268-43F0-E6CA-FD6B5AC1B54C}"/>
              </a:ext>
            </a:extLst>
          </p:cNvPr>
          <p:cNvSpPr/>
          <p:nvPr/>
        </p:nvSpPr>
        <p:spPr>
          <a:xfrm>
            <a:off x="542545" y="888748"/>
            <a:ext cx="5532120" cy="29779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</p:spTree>
    <p:extLst>
      <p:ext uri="{BB962C8B-B14F-4D97-AF65-F5344CB8AC3E}">
        <p14:creationId xmlns:p14="http://schemas.microsoft.com/office/powerpoint/2010/main" val="3222848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86E0-D471-FE1E-4139-B35C0E98C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D7AAA6-58B5-2C58-87A2-782D2F66B89F}"/>
              </a:ext>
            </a:extLst>
          </p:cNvPr>
          <p:cNvSpPr txBox="1"/>
          <p:nvPr/>
        </p:nvSpPr>
        <p:spPr>
          <a:xfrm>
            <a:off x="363794" y="334297"/>
            <a:ext cx="1054017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lang="en-US" dirty="0"/>
              <a:t>10. Hotel stay success rate (Checked-out vs problems)</a:t>
            </a:r>
            <a:endParaRPr dirty="0"/>
          </a:p>
        </p:txBody>
      </p:sp>
      <p:sp>
        <p:nvSpPr>
          <p:cNvPr id="9" name="Key Insight Card">
            <a:extLst>
              <a:ext uri="{FF2B5EF4-FFF2-40B4-BE49-F238E27FC236}">
                <a16:creationId xmlns:a16="http://schemas.microsoft.com/office/drawing/2014/main" id="{819EE5D5-8F08-C459-97EF-9A66CC260434}"/>
              </a:ext>
            </a:extLst>
          </p:cNvPr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>
            <a:extLst>
              <a:ext uri="{FF2B5EF4-FFF2-40B4-BE49-F238E27FC236}">
                <a16:creationId xmlns:a16="http://schemas.microsoft.com/office/drawing/2014/main" id="{E2F52E1F-CE03-5CA7-7FD7-25051F4C47E6}"/>
              </a:ext>
            </a:extLst>
          </p:cNvPr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>
            <a:extLst>
              <a:ext uri="{FF2B5EF4-FFF2-40B4-BE49-F238E27FC236}">
                <a16:creationId xmlns:a16="http://schemas.microsoft.com/office/drawing/2014/main" id="{EE664E7D-EBFA-908B-14CB-B8B41595847E}"/>
              </a:ext>
            </a:extLst>
          </p:cNvPr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StayPoint Mumbai Suites and Mumbai Residency lead on completion rate (~65%), the two most reliable hotels in the portfolio.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StayPoint Kochi Palace has the lowest completion rate (~61%) — the weakest performer on checked-out vs. problem stays.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Even the best hotels lose roughly 1 in 3 stays to cancellations or no-shows — this is a portfolio-wide issue, not a single property's problem.</a:t>
            </a:r>
          </a:p>
        </p:txBody>
      </p:sp>
      <p:pic>
        <p:nvPicPr>
          <p:cNvPr id="6" name="Picture 5" descr="Best Data Science &amp; Big Data EdTech Company Hyderabad, India">
            <a:extLst>
              <a:ext uri="{FF2B5EF4-FFF2-40B4-BE49-F238E27FC236}">
                <a16:creationId xmlns:a16="http://schemas.microsoft.com/office/drawing/2014/main" id="{E00CCD0E-5665-88EC-EC47-B8B216BE4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B18AD2-0BFD-17B0-B2F0-1DF578696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71" y="1208314"/>
            <a:ext cx="6023449" cy="30609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F29672-6D51-93EB-83CC-F5779490B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19" y="4291080"/>
            <a:ext cx="5890081" cy="20444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0D7FAF-97F3-D201-6FE6-4D84FF14309E}"/>
              </a:ext>
            </a:extLst>
          </p:cNvPr>
          <p:cNvSpPr/>
          <p:nvPr/>
        </p:nvSpPr>
        <p:spPr>
          <a:xfrm>
            <a:off x="542545" y="888748"/>
            <a:ext cx="5532120" cy="29779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SQL ANALYSIS</a:t>
            </a:r>
          </a:p>
        </p:txBody>
      </p:sp>
    </p:spTree>
    <p:extLst>
      <p:ext uri="{BB962C8B-B14F-4D97-AF65-F5344CB8AC3E}">
        <p14:creationId xmlns:p14="http://schemas.microsoft.com/office/powerpoint/2010/main" val="4232227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57A68-1D42-1826-3163-FC46E7E3D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0CA7F-11AB-3253-05D3-D6A2C9D2E427}"/>
              </a:ext>
            </a:extLst>
          </p:cNvPr>
          <p:cNvSpPr txBox="1"/>
          <p:nvPr/>
        </p:nvSpPr>
        <p:spPr>
          <a:xfrm>
            <a:off x="359467" y="301639"/>
            <a:ext cx="1054017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lang="en-US" dirty="0"/>
              <a:t>11</a:t>
            </a:r>
            <a:r>
              <a:rPr dirty="0"/>
              <a:t>. </a:t>
            </a:r>
            <a:r>
              <a:rPr lang="en-IN" dirty="0"/>
              <a:t>Room Performance by Hotel</a:t>
            </a:r>
            <a:endParaRPr dirty="0"/>
          </a:p>
        </p:txBody>
      </p:sp>
      <p:sp>
        <p:nvSpPr>
          <p:cNvPr id="9" name="Key Insight Card">
            <a:extLst>
              <a:ext uri="{FF2B5EF4-FFF2-40B4-BE49-F238E27FC236}">
                <a16:creationId xmlns:a16="http://schemas.microsoft.com/office/drawing/2014/main" id="{DDC920C3-D2AD-95EF-96C5-9456546AF06F}"/>
              </a:ext>
            </a:extLst>
          </p:cNvPr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>
            <a:extLst>
              <a:ext uri="{FF2B5EF4-FFF2-40B4-BE49-F238E27FC236}">
                <a16:creationId xmlns:a16="http://schemas.microsoft.com/office/drawing/2014/main" id="{70ABA50B-C92D-5A2D-ED2D-2A13287E6CB3}"/>
              </a:ext>
            </a:extLst>
          </p:cNvPr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>
            <a:extLst>
              <a:ext uri="{FF2B5EF4-FFF2-40B4-BE49-F238E27FC236}">
                <a16:creationId xmlns:a16="http://schemas.microsoft.com/office/drawing/2014/main" id="{EB2FD3C1-224F-91B3-FA5A-50D81CDB780D}"/>
              </a:ext>
            </a:extLst>
          </p:cNvPr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Completion rates vary sharply by room type within the same hotel — e.g. at StayPoint Ahmedabad Plaza, Executive rooms complete at 87.5% vs just 52.9% for Suites.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Standard and Deluxe rooms carry the highest stay volumes (46–58 stays) at both Ahmedabad properties, but not the highest completion rates.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Room performance is hotel-and-room-type specific — each property needs its own room-level review rather than one blanket fix.</a:t>
            </a:r>
          </a:p>
        </p:txBody>
      </p:sp>
      <p:pic>
        <p:nvPicPr>
          <p:cNvPr id="6" name="Picture 5" descr="Best Data Science &amp; Big Data EdTech Company Hyderabad, India">
            <a:extLst>
              <a:ext uri="{FF2B5EF4-FFF2-40B4-BE49-F238E27FC236}">
                <a16:creationId xmlns:a16="http://schemas.microsoft.com/office/drawing/2014/main" id="{AC29B043-02DD-7AB8-303E-6EC3D05D7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F620A-5533-5D2C-4E0E-4D75A3CB4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00" y="1327376"/>
            <a:ext cx="5954810" cy="33815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1A7A12-DA74-6725-F2FD-EA12A85BA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09" y="4708974"/>
            <a:ext cx="6207331" cy="17191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2C7494-AEC5-6497-8537-9D8D4A529D7D}"/>
              </a:ext>
            </a:extLst>
          </p:cNvPr>
          <p:cNvSpPr/>
          <p:nvPr/>
        </p:nvSpPr>
        <p:spPr>
          <a:xfrm>
            <a:off x="542545" y="888748"/>
            <a:ext cx="5532120" cy="29779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</p:spTree>
    <p:extLst>
      <p:ext uri="{BB962C8B-B14F-4D97-AF65-F5344CB8AC3E}">
        <p14:creationId xmlns:p14="http://schemas.microsoft.com/office/powerpoint/2010/main" val="2427459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3F6A6-2893-6BD8-3590-294878CB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5AE7A9-1BCD-B8DD-5ABB-F5AD3AD9621B}"/>
              </a:ext>
            </a:extLst>
          </p:cNvPr>
          <p:cNvSpPr txBox="1"/>
          <p:nvPr/>
        </p:nvSpPr>
        <p:spPr>
          <a:xfrm>
            <a:off x="363794" y="334297"/>
            <a:ext cx="1054017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lang="en-US" dirty="0"/>
              <a:t>12</a:t>
            </a:r>
            <a:r>
              <a:rPr dirty="0"/>
              <a:t>. </a:t>
            </a:r>
            <a:r>
              <a:rPr lang="en-US" dirty="0"/>
              <a:t>Room Capacity vs. Service Requests</a:t>
            </a:r>
            <a:endParaRPr dirty="0"/>
          </a:p>
        </p:txBody>
      </p:sp>
      <p:sp>
        <p:nvSpPr>
          <p:cNvPr id="9" name="Key Insight Card">
            <a:extLst>
              <a:ext uri="{FF2B5EF4-FFF2-40B4-BE49-F238E27FC236}">
                <a16:creationId xmlns:a16="http://schemas.microsoft.com/office/drawing/2014/main" id="{CD5CA427-4776-F066-1384-180B9F3512C7}"/>
              </a:ext>
            </a:extLst>
          </p:cNvPr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>
            <a:extLst>
              <a:ext uri="{FF2B5EF4-FFF2-40B4-BE49-F238E27FC236}">
                <a16:creationId xmlns:a16="http://schemas.microsoft.com/office/drawing/2014/main" id="{AAE56772-7AFC-151E-CD16-6ACC6EF38924}"/>
              </a:ext>
            </a:extLst>
          </p:cNvPr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>
            <a:extLst>
              <a:ext uri="{FF2B5EF4-FFF2-40B4-BE49-F238E27FC236}">
                <a16:creationId xmlns:a16="http://schemas.microsoft.com/office/drawing/2014/main" id="{944C5884-2506-A8E8-3B54-91FEE025B9EC}"/>
              </a:ext>
            </a:extLst>
          </p:cNvPr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Rooms built for 2 guests dominate stay volume (2,458 stays, ~77% of all stays recorded).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Larger rooms (max occupancy 4) generate the most service requests per stay (0.84) — about 18% higher than 2- and 3-guest rooms (~0.71).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2- and 3-guest rooms behave almost identically in service demand; occupancy-4 rooms are the outlier needing more staff attention.</a:t>
            </a:r>
          </a:p>
        </p:txBody>
      </p:sp>
      <p:pic>
        <p:nvPicPr>
          <p:cNvPr id="6" name="Picture 5" descr="Best Data Science &amp; Big Data EdTech Company Hyderabad, India">
            <a:extLst>
              <a:ext uri="{FF2B5EF4-FFF2-40B4-BE49-F238E27FC236}">
                <a16:creationId xmlns:a16="http://schemas.microsoft.com/office/drawing/2014/main" id="{FEA54082-E3BE-4E79-CDCE-EF7AC4E28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E0D2E1-C7E7-752F-02A8-D281421AB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87" y="4453129"/>
            <a:ext cx="6315653" cy="14213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C42EEE-3AE2-19E6-E8D9-4B75F3D61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49" y="1294717"/>
            <a:ext cx="5933871" cy="29942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DFFCF2-4BD6-616F-9D52-0BDA60BCBB9C}"/>
              </a:ext>
            </a:extLst>
          </p:cNvPr>
          <p:cNvSpPr/>
          <p:nvPr/>
        </p:nvSpPr>
        <p:spPr>
          <a:xfrm>
            <a:off x="542545" y="888748"/>
            <a:ext cx="5532120" cy="29779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SQL ANALYSIS</a:t>
            </a:r>
          </a:p>
        </p:txBody>
      </p:sp>
    </p:spTree>
    <p:extLst>
      <p:ext uri="{BB962C8B-B14F-4D97-AF65-F5344CB8AC3E}">
        <p14:creationId xmlns:p14="http://schemas.microsoft.com/office/powerpoint/2010/main" val="3136035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4290-5DE6-F322-396D-DF1A963A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6A5E6D-E72D-D5F7-D187-E877AF834444}"/>
              </a:ext>
            </a:extLst>
          </p:cNvPr>
          <p:cNvSpPr txBox="1"/>
          <p:nvPr/>
        </p:nvSpPr>
        <p:spPr>
          <a:xfrm>
            <a:off x="363794" y="334297"/>
            <a:ext cx="1054017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300" b="1">
                <a:solidFill>
                  <a:srgbClr val="232323"/>
                </a:solidFill>
                <a:latin typeface="Cambria"/>
              </a:defRPr>
            </a:pPr>
            <a:r>
              <a:rPr lang="en-US" dirty="0"/>
              <a:t>13</a:t>
            </a:r>
            <a:r>
              <a:rPr dirty="0"/>
              <a:t>. </a:t>
            </a:r>
            <a:r>
              <a:rPr lang="en-IN" dirty="0"/>
              <a:t>Staff Stay Duration Analysis</a:t>
            </a:r>
            <a:endParaRPr dirty="0"/>
          </a:p>
        </p:txBody>
      </p:sp>
      <p:sp>
        <p:nvSpPr>
          <p:cNvPr id="9" name="Key Insight Card">
            <a:extLst>
              <a:ext uri="{FF2B5EF4-FFF2-40B4-BE49-F238E27FC236}">
                <a16:creationId xmlns:a16="http://schemas.microsoft.com/office/drawing/2014/main" id="{669F6174-C536-856E-5D70-FF07BE0EE857}"/>
              </a:ext>
            </a:extLst>
          </p:cNvPr>
          <p:cNvSpPr/>
          <p:nvPr/>
        </p:nvSpPr>
        <p:spPr>
          <a:xfrm>
            <a:off x="6446520" y="1828800"/>
            <a:ext cx="4709160" cy="4069080"/>
          </a:xfrm>
          <a:prstGeom prst="roundRect">
            <a:avLst/>
          </a:prstGeom>
          <a:solidFill>
            <a:srgbClr val="F8F9FB"/>
          </a:solidFill>
          <a:ln w="15240">
            <a:solidFill>
              <a:srgbClr val="CD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Key Insight Header">
            <a:extLst>
              <a:ext uri="{FF2B5EF4-FFF2-40B4-BE49-F238E27FC236}">
                <a16:creationId xmlns:a16="http://schemas.microsoft.com/office/drawing/2014/main" id="{31983926-1F9A-9591-9D81-A7B8BC30A55B}"/>
              </a:ext>
            </a:extLst>
          </p:cNvPr>
          <p:cNvSpPr txBox="1"/>
          <p:nvPr/>
        </p:nvSpPr>
        <p:spPr>
          <a:xfrm>
            <a:off x="6675120" y="1993392"/>
            <a:ext cx="4251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192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1" name="Key Insight Text">
            <a:extLst>
              <a:ext uri="{FF2B5EF4-FFF2-40B4-BE49-F238E27FC236}">
                <a16:creationId xmlns:a16="http://schemas.microsoft.com/office/drawing/2014/main" id="{2EB955CE-EA4E-AAA2-576A-745B53545601}"/>
              </a:ext>
            </a:extLst>
          </p:cNvPr>
          <p:cNvSpPr txBox="1"/>
          <p:nvPr/>
        </p:nvSpPr>
        <p:spPr>
          <a:xfrm>
            <a:off x="6720840" y="2542032"/>
            <a:ext cx="4206240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Holly Wood (Housekeeping) handles the longest average stays (3.17 nights) — the only non–Front Desk staffer in the top group.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Front Desk staff dominate the ranking (6 of the top 8), consistently averaging 2.7–2.9 nights handled per stay.</a:t>
            </a:r>
          </a:p>
          <a:p>
            <a:pPr>
              <a:defRPr sz="1350">
                <a:solidFill>
                  <a:srgbClr val="373737"/>
                </a:solidFill>
                <a:latin typeface="Calibri"/>
              </a:defRPr>
            </a:pPr>
            <a:r>
              <a:t>• Service load doesn't track stay length — Gabrielle Davis logs the most requests (45) despite a mid-range 2.79 avg. nights handled.</a:t>
            </a:r>
          </a:p>
        </p:txBody>
      </p:sp>
      <p:pic>
        <p:nvPicPr>
          <p:cNvPr id="6" name="Picture 5" descr="Best Data Science &amp; Big Data EdTech Company Hyderabad, India">
            <a:extLst>
              <a:ext uri="{FF2B5EF4-FFF2-40B4-BE49-F238E27FC236}">
                <a16:creationId xmlns:a16="http://schemas.microsoft.com/office/drawing/2014/main" id="{23EDBE7C-954D-F326-3B19-0530D6ADB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592554-7CAE-2D85-751B-AD5FDD663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94" y="1240972"/>
            <a:ext cx="5668166" cy="31133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16A776-4161-4FE9-5532-F05AADE3F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38" y="4408714"/>
            <a:ext cx="6110682" cy="197923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07DB70-0A51-C90E-327D-3D461D434240}"/>
              </a:ext>
            </a:extLst>
          </p:cNvPr>
          <p:cNvSpPr/>
          <p:nvPr/>
        </p:nvSpPr>
        <p:spPr>
          <a:xfrm>
            <a:off x="542545" y="888748"/>
            <a:ext cx="5532120" cy="29779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SQL ANALYSIS</a:t>
            </a:r>
          </a:p>
        </p:txBody>
      </p:sp>
    </p:spTree>
    <p:extLst>
      <p:ext uri="{BB962C8B-B14F-4D97-AF65-F5344CB8AC3E}">
        <p14:creationId xmlns:p14="http://schemas.microsoft.com/office/powerpoint/2010/main" val="2871790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26E960B-2C08-2DC7-3789-D8D08F6FD6F8}"/>
              </a:ext>
            </a:extLst>
          </p:cNvPr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1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/ Challenges Faced</a:t>
            </a:r>
            <a:endParaRPr lang="en-US" sz="3000" b="1" dirty="0">
              <a:solidFill>
                <a:srgbClr val="D1272E"/>
              </a:solidFill>
              <a:latin typeface="Cambria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2631261-CDE9-848C-1C74-A27420782649}"/>
              </a:ext>
            </a:extLst>
          </p:cNvPr>
          <p:cNvSpPr/>
          <p:nvPr/>
        </p:nvSpPr>
        <p:spPr>
          <a:xfrm>
            <a:off x="1289992" y="121234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2400" b="1" dirty="0"/>
              <a:t>Challenges Faced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FA8C3D-BE1F-E7EC-C3E2-F0458C9F2193}"/>
              </a:ext>
            </a:extLst>
          </p:cNvPr>
          <p:cNvSpPr txBox="1"/>
          <p:nvPr/>
        </p:nvSpPr>
        <p:spPr>
          <a:xfrm>
            <a:off x="7253714" y="1081331"/>
            <a:ext cx="4091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 dirty="0"/>
              <a:t>Key Learnings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39A61-4374-26B4-FD79-A1E3D800298B}"/>
              </a:ext>
            </a:extLst>
          </p:cNvPr>
          <p:cNvSpPr txBox="1"/>
          <p:nvPr/>
        </p:nvSpPr>
        <p:spPr>
          <a:xfrm>
            <a:off x="6766562" y="1668594"/>
            <a:ext cx="50655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• Designing relational SQL queries across hotels, guests, bookings, rooms, stays and staff.</a:t>
            </a:r>
          </a:p>
          <a:p>
            <a:endParaRPr dirty="0"/>
          </a:p>
          <a:p>
            <a:r>
              <a:rPr dirty="0"/>
              <a:t>• Handling multi-table joins while keeping results accurate.</a:t>
            </a:r>
          </a:p>
          <a:p>
            <a:endParaRPr dirty="0"/>
          </a:p>
          <a:p>
            <a:r>
              <a:rPr dirty="0"/>
              <a:t>• Translating hotel business questions into measurable SQL outputs.</a:t>
            </a:r>
          </a:p>
          <a:p>
            <a:endParaRPr dirty="0"/>
          </a:p>
          <a:p>
            <a:r>
              <a:rPr dirty="0"/>
              <a:t>• Working with stay statuses, dates, service requests and revenue.</a:t>
            </a:r>
          </a:p>
        </p:txBody>
      </p:sp>
      <p:pic>
        <p:nvPicPr>
          <p:cNvPr id="13" name="Picture 12" descr="Best Data Science &amp; Big Data EdTech Company Hyderabad, India">
            <a:extLst>
              <a:ext uri="{FF2B5EF4-FFF2-40B4-BE49-F238E27FC236}">
                <a16:creationId xmlns:a16="http://schemas.microsoft.com/office/drawing/2014/main" id="{35AD30AE-7465-8083-3485-AE5A18617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4440" y="1784614"/>
            <a:ext cx="534053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Understanding relationships between multiple hospitality tables.</a:t>
            </a:r>
          </a:p>
          <a:p>
            <a:endParaRPr dirty="0"/>
          </a:p>
          <a:p>
            <a:r>
              <a:rPr dirty="0"/>
              <a:t>• Validating joins and avoiding duplicate results.</a:t>
            </a:r>
          </a:p>
          <a:p>
            <a:endParaRPr dirty="0"/>
          </a:p>
          <a:p>
            <a:r>
              <a:rPr dirty="0"/>
              <a:t>• Using conditional aggregation, CASE statements and date functions.</a:t>
            </a:r>
          </a:p>
          <a:p>
            <a:endParaRPr dirty="0"/>
          </a:p>
          <a:p>
            <a:r>
              <a:rPr dirty="0"/>
              <a:t>• Presenting SQL results as simple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908361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3F49F-779F-83E7-F09A-BBEA4C11283A}"/>
              </a:ext>
            </a:extLst>
          </p:cNvPr>
          <p:cNvSpPr txBox="1"/>
          <p:nvPr/>
        </p:nvSpPr>
        <p:spPr>
          <a:xfrm>
            <a:off x="737419" y="196645"/>
            <a:ext cx="8642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D1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Business Insights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5A6AA0-16B7-C1E2-3A18-0F316DC44B83}"/>
              </a:ext>
            </a:extLst>
          </p:cNvPr>
          <p:cNvSpPr/>
          <p:nvPr/>
        </p:nvSpPr>
        <p:spPr>
          <a:xfrm>
            <a:off x="784024" y="1189406"/>
            <a:ext cx="4577014" cy="1626847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203200" tIns="152400" rIns="203200" bIns="127000"/>
          <a:lstStyle/>
          <a:p>
            <a:pPr>
              <a:defRPr sz="1300">
                <a:solidFill>
                  <a:srgbClr val="373737"/>
                </a:solidFill>
                <a:latin typeface="Calibri"/>
              </a:defRPr>
            </a:pPr>
            <a:r>
              <a:rPr dirty="0"/>
              <a:t>1. BOOKING DEMAND</a:t>
            </a:r>
          </a:p>
          <a:p>
            <a:pPr>
              <a:defRPr sz="1300">
                <a:solidFill>
                  <a:srgbClr val="373737"/>
                </a:solidFill>
                <a:latin typeface="Calibri"/>
              </a:defRPr>
            </a:pPr>
            <a:r>
              <a:rPr dirty="0"/>
              <a:t>Stay</a:t>
            </a:r>
            <a:r>
              <a:rPr lang="en-US" dirty="0"/>
              <a:t> </a:t>
            </a:r>
            <a:r>
              <a:rPr dirty="0"/>
              <a:t>Point Mumbai Grand and Mumbai Residency lead in bookings (224, 221); Website and Mobile App together drive over ₹3.05Cr in revenue.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9344DC0-A510-C05E-4804-19889A2FB6BC}"/>
              </a:ext>
            </a:extLst>
          </p:cNvPr>
          <p:cNvSpPr/>
          <p:nvPr/>
        </p:nvSpPr>
        <p:spPr>
          <a:xfrm>
            <a:off x="6456892" y="1189406"/>
            <a:ext cx="4476580" cy="1626847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203200" tIns="152400" rIns="203200" bIns="127000"/>
          <a:lstStyle/>
          <a:p>
            <a:pPr>
              <a:defRPr sz="1300">
                <a:solidFill>
                  <a:srgbClr val="373737"/>
                </a:solidFill>
                <a:latin typeface="Calibri"/>
              </a:defRPr>
            </a:pPr>
            <a:r>
              <a:t>2. ROOM &amp; GUEST PREFERENCE</a:t>
            </a:r>
          </a:p>
          <a:p>
            <a:pPr>
              <a:defRPr sz="1300">
                <a:solidFill>
                  <a:srgbClr val="373737"/>
                </a:solidFill>
                <a:latin typeface="Calibri"/>
              </a:defRPr>
            </a:pPr>
            <a:r>
              <a:t>Standard rooms are most requested (1,259) and most used (1,440 stays), while Suites are rarest but highest-value (₹8,862/night avg).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42C4635-770B-CD48-8D42-63EF89378D24}"/>
              </a:ext>
            </a:extLst>
          </p:cNvPr>
          <p:cNvSpPr/>
          <p:nvPr/>
        </p:nvSpPr>
        <p:spPr>
          <a:xfrm>
            <a:off x="629265" y="3519949"/>
            <a:ext cx="4965289" cy="1720645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203200" tIns="152400" rIns="203200" bIns="127000"/>
          <a:lstStyle/>
          <a:p>
            <a:pPr>
              <a:defRPr sz="1300">
                <a:solidFill>
                  <a:srgbClr val="373737"/>
                </a:solidFill>
                <a:latin typeface="Calibri"/>
              </a:defRPr>
            </a:pPr>
            <a:r>
              <a:t>4. OPERATIONS</a:t>
            </a:r>
          </a:p>
          <a:p>
            <a:pPr>
              <a:defRPr sz="1300">
                <a:solidFill>
                  <a:srgbClr val="373737"/>
                </a:solidFill>
                <a:latin typeface="Calibri"/>
              </a:defRPr>
            </a:pPr>
            <a:r>
              <a:t>66.2% of stays complete successfully; No-shows (16.9%) edge out Cancellations (15.0%). Staff workload is fairly balanced across departments.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6891" y="3429000"/>
            <a:ext cx="4628203" cy="1720645"/>
          </a:xfrm>
          <a:prstGeom prst="rect">
            <a:avLst/>
          </a:prstGeom>
          <a:solidFill>
            <a:srgbClr val="F7F7F7"/>
          </a:solidFill>
        </p:spPr>
        <p:txBody>
          <a:bodyPr wrap="square" lIns="203200" tIns="152400" rIns="203200" bIns="127000">
            <a:spAutoFit/>
          </a:bodyPr>
          <a:lstStyle/>
          <a:p>
            <a:pPr>
              <a:defRPr sz="1300">
                <a:solidFill>
                  <a:srgbClr val="373737"/>
                </a:solidFill>
                <a:latin typeface="Calibri"/>
              </a:defRPr>
            </a:pPr>
            <a:r>
              <a:t>3. GUEST BEHAVIOUR</a:t>
            </a:r>
          </a:p>
          <a:p>
            <a:pPr>
              <a:defRPr sz="1300">
                <a:solidFill>
                  <a:srgbClr val="373737"/>
                </a:solidFill>
                <a:latin typeface="Calibri"/>
              </a:defRPr>
            </a:pPr>
            <a:r>
              <a:t>Individual guests drive far more volume (1,903 vs 897 bookings) than Corporate, though average booking value is nearly identical (~₹16,300).</a:t>
            </a:r>
          </a:p>
        </p:txBody>
      </p:sp>
      <p:pic>
        <p:nvPicPr>
          <p:cNvPr id="4" name="Picture 3" descr="Best Data Science &amp; Big Data EdTech Company Hyderabad, India">
            <a:extLst>
              <a:ext uri="{FF2B5EF4-FFF2-40B4-BE49-F238E27FC236}">
                <a16:creationId xmlns:a16="http://schemas.microsoft.com/office/drawing/2014/main" id="{1F6CD13E-A87F-52C9-D32C-6607A30F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21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3F49F-779F-83E7-F09A-BBEA4C11283A}"/>
              </a:ext>
            </a:extLst>
          </p:cNvPr>
          <p:cNvSpPr txBox="1"/>
          <p:nvPr/>
        </p:nvSpPr>
        <p:spPr>
          <a:xfrm>
            <a:off x="737419" y="196645"/>
            <a:ext cx="86425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D12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</a:p>
        </p:txBody>
      </p:sp>
      <p:sp>
        <p:nvSpPr>
          <p:cNvPr id="5" name="Shape 5"/>
          <p:cNvSpPr/>
          <p:nvPr/>
        </p:nvSpPr>
        <p:spPr>
          <a:xfrm>
            <a:off x="450000" y="950000"/>
            <a:ext cx="3630666" cy="19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182880" tIns="137160" rIns="182880" bIns="137160"/>
          <a:lstStyle/>
          <a:p>
            <a:pPr>
              <a:defRPr sz="1200" b="1">
                <a:solidFill>
                  <a:srgbClr val="B4192D"/>
                </a:solidFill>
                <a:latin typeface="Calibri"/>
              </a:defRPr>
            </a:pPr>
            <a:r>
              <a:t>1. CUT CANCELLATIONS &amp; NO-SHOWS</a:t>
            </a:r>
          </a:p>
          <a:p>
            <a:pPr>
              <a:defRPr sz="1100">
                <a:solidFill>
                  <a:srgbClr val="373737"/>
                </a:solidFill>
                <a:latin typeface="Calibri"/>
              </a:defRPr>
            </a:pPr>
            <a:r>
              <a:t>1,022 bookings (31.9%) end in a cancellation or no-show, with the costliest single loss at ₹1.22L. Introduce prepaid/non-refundable rate options, 24–48h SMS/email reminders, and a calibrated overbooking buffer to recover this revenue.</a:t>
            </a:r>
          </a:p>
        </p:txBody>
      </p:sp>
      <p:sp>
        <p:nvSpPr>
          <p:cNvPr id="7" name="Shape 7"/>
          <p:cNvSpPr/>
          <p:nvPr/>
        </p:nvSpPr>
        <p:spPr>
          <a:xfrm>
            <a:off x="4280666" y="950000"/>
            <a:ext cx="3630666" cy="19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182880" tIns="137160" rIns="182880" bIns="137160"/>
          <a:lstStyle/>
          <a:p>
            <a:pPr>
              <a:defRPr sz="1200" b="1">
                <a:solidFill>
                  <a:srgbClr val="B4192D"/>
                </a:solidFill>
                <a:latin typeface="Calibri"/>
              </a:defRPr>
            </a:pPr>
            <a:r>
              <a:t>2. FIX UNDERPERFORMING HOTELS</a:t>
            </a:r>
          </a:p>
          <a:p>
            <a:pPr>
              <a:defRPr sz="1100">
                <a:solidFill>
                  <a:srgbClr val="373737"/>
                </a:solidFill>
                <a:latin typeface="Calibri"/>
              </a:defRPr>
            </a:pPr>
            <a:r>
              <a:t>StayPoint Kochi Palace (39.2%) and Indore Plaza (38.4%) have the highest problem rates, while Chandigarh Residency (19.8%) performs best. Audit staffing and service quality at the weak properties and roll out the top performer's playbook.</a:t>
            </a:r>
          </a:p>
        </p:txBody>
      </p:sp>
      <p:sp>
        <p:nvSpPr>
          <p:cNvPr id="9" name="Shape 9"/>
          <p:cNvSpPr/>
          <p:nvPr/>
        </p:nvSpPr>
        <p:spPr>
          <a:xfrm>
            <a:off x="8111332" y="950000"/>
            <a:ext cx="3630666" cy="19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182880" tIns="137160" rIns="182880" bIns="137160"/>
          <a:lstStyle/>
          <a:p>
            <a:pPr>
              <a:defRPr sz="1200" b="1">
                <a:solidFill>
                  <a:srgbClr val="B4192D"/>
                </a:solidFill>
                <a:latin typeface="Calibri"/>
              </a:defRPr>
            </a:pPr>
            <a:r>
              <a:t>3. PUSH HIGH-MARGIN ROOMS</a:t>
            </a:r>
          </a:p>
          <a:p>
            <a:pPr>
              <a:defRPr sz="1100">
                <a:solidFill>
                  <a:srgbClr val="373737"/>
                </a:solidFill>
                <a:latin typeface="Calibri"/>
              </a:defRPr>
            </a:pPr>
            <a:r>
              <a:t>Suites are booked least (444) but earn the most per booking (₹27,477 avg). Bundle suite upgrades and packages to lift occupancy in the highest-margin room category and grow revenue per stay.</a:t>
            </a:r>
          </a:p>
        </p:txBody>
      </p:sp>
      <p:sp>
        <p:nvSpPr>
          <p:cNvPr id="11" name="Shape 11"/>
          <p:cNvSpPr/>
          <p:nvPr/>
        </p:nvSpPr>
        <p:spPr>
          <a:xfrm>
            <a:off x="450000" y="3150000"/>
            <a:ext cx="3630666" cy="19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182880" tIns="137160" rIns="182880" bIns="137160"/>
          <a:lstStyle/>
          <a:p>
            <a:pPr>
              <a:defRPr sz="1200" b="1">
                <a:solidFill>
                  <a:srgbClr val="B4192D"/>
                </a:solidFill>
                <a:latin typeface="Calibri"/>
              </a:defRPr>
            </a:pPr>
            <a:r>
              <a:t>4. DOUBLE DOWN ON DIGITAL CHANNELS</a:t>
            </a:r>
          </a:p>
          <a:p>
            <a:pPr>
              <a:defRPr sz="1100">
                <a:solidFill>
                  <a:srgbClr val="373737"/>
                </a:solidFill>
                <a:latin typeface="Calibri"/>
              </a:defRPr>
            </a:pPr>
            <a:r>
              <a:t>Website and Mobile App already drive over ₹3.05Cr in revenue vs just 222 phone bookings. Shift marketing spend further toward digital channels and reduce phone-booking overhead.</a:t>
            </a:r>
          </a:p>
        </p:txBody>
      </p:sp>
      <p:sp>
        <p:nvSpPr>
          <p:cNvPr id="13" name="Shape 13"/>
          <p:cNvSpPr/>
          <p:nvPr/>
        </p:nvSpPr>
        <p:spPr>
          <a:xfrm>
            <a:off x="4280666" y="3150000"/>
            <a:ext cx="3630666" cy="19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182880" tIns="137160" rIns="182880" bIns="137160"/>
          <a:lstStyle/>
          <a:p>
            <a:pPr>
              <a:defRPr sz="1200" b="1">
                <a:solidFill>
                  <a:srgbClr val="B4192D"/>
                </a:solidFill>
                <a:latin typeface="Calibri"/>
              </a:defRPr>
            </a:pPr>
            <a:r>
              <a:t>5. BUILD A LOYALTY PROGRAM</a:t>
            </a:r>
          </a:p>
          <a:p>
            <a:pPr>
              <a:defRPr sz="1100">
                <a:solidFill>
                  <a:srgbClr val="373737"/>
                </a:solidFill>
                <a:latin typeface="Calibri"/>
              </a:defRPr>
            </a:pPr>
            <a:r>
              <a:t>Top guests such as the highest spender (₹11.96L across 64 bookings) show that high-frequency guests drive outsized revenue. A tiered loyalty program can boost repeat bookings and cut acquisition cost.</a:t>
            </a:r>
          </a:p>
        </p:txBody>
      </p:sp>
      <p:sp>
        <p:nvSpPr>
          <p:cNvPr id="15" name="Shape 15"/>
          <p:cNvSpPr/>
          <p:nvPr/>
        </p:nvSpPr>
        <p:spPr>
          <a:xfrm>
            <a:off x="8111332" y="3150000"/>
            <a:ext cx="3630666" cy="19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/>
          <a:effectLst>
            <a:outerShdw blurRad="635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lIns="182880" tIns="137160" rIns="182880" bIns="137160"/>
          <a:lstStyle/>
          <a:p>
            <a:pPr>
              <a:defRPr sz="1200" b="1">
                <a:solidFill>
                  <a:srgbClr val="B4192D"/>
                </a:solidFill>
                <a:latin typeface="Calibri"/>
              </a:defRPr>
            </a:pPr>
            <a:r>
              <a:t>6. RIGHT-SIZE SERVICE STAFFING</a:t>
            </a:r>
          </a:p>
          <a:p>
            <a:pPr>
              <a:defRPr sz="1100">
                <a:solidFill>
                  <a:srgbClr val="373737"/>
                </a:solidFill>
                <a:latin typeface="Calibri"/>
              </a:defRPr>
            </a:pPr>
            <a:r>
              <a:t>Occupancy-4 rooms generate 18% more service requests per stay than smaller rooms (0.84 vs 0.71). Align housekeeping and front-desk staffing to occupancy mix, especially at hotels with the lowest completion rates.</a:t>
            </a:r>
          </a:p>
        </p:txBody>
      </p:sp>
      <p:pic>
        <p:nvPicPr>
          <p:cNvPr id="4" name="Picture 3" descr="Best Data Science &amp; Big Data EdTech Company Hyderabad, India">
            <a:extLst>
              <a:ext uri="{FF2B5EF4-FFF2-40B4-BE49-F238E27FC236}">
                <a16:creationId xmlns:a16="http://schemas.microsoft.com/office/drawing/2014/main" id="{1F6CD13E-A87F-52C9-D32C-6607A30F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21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est Data Science &amp; Big Data EdTech Company Hyderabad, India">
            <a:extLst>
              <a:ext uri="{FF2B5EF4-FFF2-40B4-BE49-F238E27FC236}">
                <a16:creationId xmlns:a16="http://schemas.microsoft.com/office/drawing/2014/main" id="{182FAEA3-A57C-AD56-B83B-7FDAB6E66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655" y="6045299"/>
            <a:ext cx="4280171" cy="765684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083630" y="979715"/>
            <a:ext cx="2109650" cy="1219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4400" dirty="0"/>
              <a:t>Q&amp;A</a:t>
            </a:r>
          </a:p>
        </p:txBody>
      </p:sp>
      <p:sp>
        <p:nvSpPr>
          <p:cNvPr id="5" name="Text 3"/>
          <p:cNvSpPr/>
          <p:nvPr/>
        </p:nvSpPr>
        <p:spPr>
          <a:xfrm>
            <a:off x="3450771" y="822960"/>
            <a:ext cx="7326085" cy="41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/>
              <a:t>Questions, Discussion &amp; Clarifications</a:t>
            </a:r>
          </a:p>
        </p:txBody>
      </p:sp>
      <p:sp>
        <p:nvSpPr>
          <p:cNvPr id="6" name="Text 4"/>
          <p:cNvSpPr/>
          <p:nvPr/>
        </p:nvSpPr>
        <p:spPr>
          <a:xfrm>
            <a:off x="975360" y="5303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533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4E4BD-CA4F-61C3-61FE-1C3042B44E59}"/>
              </a:ext>
            </a:extLst>
          </p:cNvPr>
          <p:cNvSpPr txBox="1"/>
          <p:nvPr/>
        </p:nvSpPr>
        <p:spPr>
          <a:xfrm>
            <a:off x="4640826" y="25465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825287" y="3786648"/>
            <a:ext cx="42801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dirty="0"/>
              <a:t>Thank</a:t>
            </a:r>
            <a:r>
              <a:rPr sz="4400" dirty="0"/>
              <a:t> </a:t>
            </a:r>
            <a:r>
              <a:rPr sz="6000" dirty="0"/>
              <a:t>You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261</TotalTime>
  <Words>1856</Words>
  <Application>Microsoft Office PowerPoint</Application>
  <PresentationFormat>Widescreen</PresentationFormat>
  <Paragraphs>202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Times New Roman</vt:lpstr>
      <vt:lpstr>Cambria</vt:lpstr>
      <vt:lpstr>Arial</vt:lpstr>
      <vt:lpstr>Dune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Analysis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naga tanuja</cp:lastModifiedBy>
  <cp:revision>38</cp:revision>
  <dcterms:created xsi:type="dcterms:W3CDTF">2021-02-16T05:19:01Z</dcterms:created>
  <dcterms:modified xsi:type="dcterms:W3CDTF">2026-09-02T14:33:42Z</dcterms:modified>
</cp:coreProperties>
</file>